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242585-8C24-482F-B7CC-EAE6F5E30F11}" v="9" dt="2026-09-22T15:22:10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8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rapuravali@outlook.com" userId="59106c0e5b760d30" providerId="LiveId" clId="{045327AF-1B18-4CBD-B53C-12715DBC1A41}"/>
    <pc:docChg chg="undo custSel addSld delSld modSld">
      <pc:chgData name="rudrapuravali@outlook.com" userId="59106c0e5b760d30" providerId="LiveId" clId="{045327AF-1B18-4CBD-B53C-12715DBC1A41}" dt="2026-09-22T16:37:14.860" v="132" actId="931"/>
      <pc:docMkLst>
        <pc:docMk/>
      </pc:docMkLst>
      <pc:sldChg chg="modSp mod">
        <pc:chgData name="rudrapuravali@outlook.com" userId="59106c0e5b760d30" providerId="LiveId" clId="{045327AF-1B18-4CBD-B53C-12715DBC1A41}" dt="2026-09-22T15:31:30.362" v="86" actId="1076"/>
        <pc:sldMkLst>
          <pc:docMk/>
          <pc:sldMk cId="3229531452" sldId="256"/>
        </pc:sldMkLst>
        <pc:spChg chg="mod">
          <ac:chgData name="rudrapuravali@outlook.com" userId="59106c0e5b760d30" providerId="LiveId" clId="{045327AF-1B18-4CBD-B53C-12715DBC1A41}" dt="2026-09-22T15:31:30.362" v="86" actId="1076"/>
          <ac:spMkLst>
            <pc:docMk/>
            <pc:sldMk cId="3229531452" sldId="256"/>
            <ac:spMk id="2" creationId="{260C6764-1C9A-D71F-0B64-8CD20D11D27E}"/>
          </ac:spMkLst>
        </pc:spChg>
      </pc:sldChg>
      <pc:sldChg chg="modSp mod">
        <pc:chgData name="rudrapuravali@outlook.com" userId="59106c0e5b760d30" providerId="LiveId" clId="{045327AF-1B18-4CBD-B53C-12715DBC1A41}" dt="2026-09-22T16:36:50.377" v="130" actId="20577"/>
        <pc:sldMkLst>
          <pc:docMk/>
          <pc:sldMk cId="2794362525" sldId="257"/>
        </pc:sldMkLst>
        <pc:spChg chg="mod">
          <ac:chgData name="rudrapuravali@outlook.com" userId="59106c0e5b760d30" providerId="LiveId" clId="{045327AF-1B18-4CBD-B53C-12715DBC1A41}" dt="2026-09-22T16:36:50.377" v="130" actId="20577"/>
          <ac:spMkLst>
            <pc:docMk/>
            <pc:sldMk cId="2794362525" sldId="257"/>
            <ac:spMk id="3" creationId="{E926F2FB-6BFF-D620-066E-A88B43651341}"/>
          </ac:spMkLst>
        </pc:spChg>
      </pc:sldChg>
      <pc:sldChg chg="addSp modSp mod">
        <pc:chgData name="rudrapuravali@outlook.com" userId="59106c0e5b760d30" providerId="LiveId" clId="{045327AF-1B18-4CBD-B53C-12715DBC1A41}" dt="2026-09-22T15:16:35.831" v="19" actId="14100"/>
        <pc:sldMkLst>
          <pc:docMk/>
          <pc:sldMk cId="1009778873" sldId="262"/>
        </pc:sldMkLst>
        <pc:spChg chg="add mod">
          <ac:chgData name="rudrapuravali@outlook.com" userId="59106c0e5b760d30" providerId="LiveId" clId="{045327AF-1B18-4CBD-B53C-12715DBC1A41}" dt="2026-09-22T15:13:48.814" v="4" actId="14100"/>
          <ac:spMkLst>
            <pc:docMk/>
            <pc:sldMk cId="1009778873" sldId="262"/>
            <ac:spMk id="3" creationId="{C82788BF-A356-B815-D06F-EC43BF044FFE}"/>
          </ac:spMkLst>
        </pc:spChg>
        <pc:spChg chg="add mod">
          <ac:chgData name="rudrapuravali@outlook.com" userId="59106c0e5b760d30" providerId="LiveId" clId="{045327AF-1B18-4CBD-B53C-12715DBC1A41}" dt="2026-09-22T15:14:48.342" v="14" actId="14100"/>
          <ac:spMkLst>
            <pc:docMk/>
            <pc:sldMk cId="1009778873" sldId="262"/>
            <ac:spMk id="5" creationId="{0D5667E5-E8F8-C7F9-2762-E2227912830D}"/>
          </ac:spMkLst>
        </pc:spChg>
        <pc:picChg chg="add mod">
          <ac:chgData name="rudrapuravali@outlook.com" userId="59106c0e5b760d30" providerId="LiveId" clId="{045327AF-1B18-4CBD-B53C-12715DBC1A41}" dt="2026-09-22T15:16:35.831" v="19" actId="14100"/>
          <ac:picMkLst>
            <pc:docMk/>
            <pc:sldMk cId="1009778873" sldId="262"/>
            <ac:picMk id="7" creationId="{F216FB1E-EA35-86FA-15F9-F5B097783EFE}"/>
          </ac:picMkLst>
        </pc:picChg>
      </pc:sldChg>
      <pc:sldChg chg="addSp modSp new mod">
        <pc:chgData name="rudrapuravali@outlook.com" userId="59106c0e5b760d30" providerId="LiveId" clId="{045327AF-1B18-4CBD-B53C-12715DBC1A41}" dt="2026-09-22T15:24:12.041" v="57" actId="1076"/>
        <pc:sldMkLst>
          <pc:docMk/>
          <pc:sldMk cId="2417169452" sldId="263"/>
        </pc:sldMkLst>
        <pc:spChg chg="add mod">
          <ac:chgData name="rudrapuravali@outlook.com" userId="59106c0e5b760d30" providerId="LiveId" clId="{045327AF-1B18-4CBD-B53C-12715DBC1A41}" dt="2026-09-22T15:20:03.434" v="25" actId="1076"/>
          <ac:spMkLst>
            <pc:docMk/>
            <pc:sldMk cId="2417169452" sldId="263"/>
            <ac:spMk id="3" creationId="{EC2768FE-AE9A-3A52-424E-F2359982506A}"/>
          </ac:spMkLst>
        </pc:spChg>
        <pc:spChg chg="add mod">
          <ac:chgData name="rudrapuravali@outlook.com" userId="59106c0e5b760d30" providerId="LiveId" clId="{045327AF-1B18-4CBD-B53C-12715DBC1A41}" dt="2026-09-22T15:20:33.452" v="29"/>
          <ac:spMkLst>
            <pc:docMk/>
            <pc:sldMk cId="2417169452" sldId="263"/>
            <ac:spMk id="5" creationId="{D607E7BF-9C7E-CF60-10A6-D49065DDD485}"/>
          </ac:spMkLst>
        </pc:spChg>
        <pc:spChg chg="add mod">
          <ac:chgData name="rudrapuravali@outlook.com" userId="59106c0e5b760d30" providerId="LiveId" clId="{045327AF-1B18-4CBD-B53C-12715DBC1A41}" dt="2026-09-22T15:23:10.550" v="53" actId="14100"/>
          <ac:spMkLst>
            <pc:docMk/>
            <pc:sldMk cId="2417169452" sldId="263"/>
            <ac:spMk id="7" creationId="{4392B3DA-1794-8D4E-30C2-1214BB8C984F}"/>
          </ac:spMkLst>
        </pc:spChg>
        <pc:picChg chg="add mod">
          <ac:chgData name="rudrapuravali@outlook.com" userId="59106c0e5b760d30" providerId="LiveId" clId="{045327AF-1B18-4CBD-B53C-12715DBC1A41}" dt="2026-09-22T15:24:12.041" v="57" actId="1076"/>
          <ac:picMkLst>
            <pc:docMk/>
            <pc:sldMk cId="2417169452" sldId="263"/>
            <ac:picMk id="9" creationId="{B0694A72-551B-FA94-A46A-E8F757904451}"/>
          </ac:picMkLst>
        </pc:picChg>
      </pc:sldChg>
      <pc:sldChg chg="addSp modSp new mod">
        <pc:chgData name="rudrapuravali@outlook.com" userId="59106c0e5b760d30" providerId="LiveId" clId="{045327AF-1B18-4CBD-B53C-12715DBC1A41}" dt="2026-09-22T15:30:44.610" v="85" actId="1076"/>
        <pc:sldMkLst>
          <pc:docMk/>
          <pc:sldMk cId="394412511" sldId="264"/>
        </pc:sldMkLst>
        <pc:spChg chg="add mod">
          <ac:chgData name="rudrapuravali@outlook.com" userId="59106c0e5b760d30" providerId="LiveId" clId="{045327AF-1B18-4CBD-B53C-12715DBC1A41}" dt="2026-09-22T15:26:11.865" v="62" actId="1076"/>
          <ac:spMkLst>
            <pc:docMk/>
            <pc:sldMk cId="394412511" sldId="264"/>
            <ac:spMk id="3" creationId="{7B11F9DF-9BC2-93B7-7A15-75AE16FC905B}"/>
          </ac:spMkLst>
        </pc:spChg>
        <pc:spChg chg="add mod">
          <ac:chgData name="rudrapuravali@outlook.com" userId="59106c0e5b760d30" providerId="LiveId" clId="{045327AF-1B18-4CBD-B53C-12715DBC1A41}" dt="2026-09-22T15:28:40.021" v="80" actId="14100"/>
          <ac:spMkLst>
            <pc:docMk/>
            <pc:sldMk cId="394412511" sldId="264"/>
            <ac:spMk id="5" creationId="{7D28AE0F-EF88-7649-6C8D-42120271E6E7}"/>
          </ac:spMkLst>
        </pc:spChg>
        <pc:picChg chg="add mod">
          <ac:chgData name="rudrapuravali@outlook.com" userId="59106c0e5b760d30" providerId="LiveId" clId="{045327AF-1B18-4CBD-B53C-12715DBC1A41}" dt="2026-09-22T15:30:44.610" v="85" actId="1076"/>
          <ac:picMkLst>
            <pc:docMk/>
            <pc:sldMk cId="394412511" sldId="264"/>
            <ac:picMk id="7" creationId="{3CA94AC5-E92F-C38B-6600-3262B6F8F27B}"/>
          </ac:picMkLst>
        </pc:picChg>
      </pc:sldChg>
      <pc:sldChg chg="addSp modSp new mod">
        <pc:chgData name="rudrapuravali@outlook.com" userId="59106c0e5b760d30" providerId="LiveId" clId="{045327AF-1B18-4CBD-B53C-12715DBC1A41}" dt="2026-09-22T16:37:14.860" v="132" actId="931"/>
        <pc:sldMkLst>
          <pc:docMk/>
          <pc:sldMk cId="1457366673" sldId="265"/>
        </pc:sldMkLst>
        <pc:picChg chg="add mod">
          <ac:chgData name="rudrapuravali@outlook.com" userId="59106c0e5b760d30" providerId="LiveId" clId="{045327AF-1B18-4CBD-B53C-12715DBC1A41}" dt="2026-09-22T16:37:14.860" v="132" actId="931"/>
          <ac:picMkLst>
            <pc:docMk/>
            <pc:sldMk cId="1457366673" sldId="265"/>
            <ac:picMk id="3" creationId="{927AEA4C-55DA-1261-D3D6-5BE80CED5E06}"/>
          </ac:picMkLst>
        </pc:picChg>
      </pc:sldChg>
      <pc:sldChg chg="addSp delSp modSp new del mod">
        <pc:chgData name="rudrapuravali@outlook.com" userId="59106c0e5b760d30" providerId="LiveId" clId="{045327AF-1B18-4CBD-B53C-12715DBC1A41}" dt="2026-09-22T15:36:33.929" v="115" actId="2696"/>
        <pc:sldMkLst>
          <pc:docMk/>
          <pc:sldMk cId="4187222866" sldId="265"/>
        </pc:sldMkLst>
        <pc:spChg chg="add del mod">
          <ac:chgData name="rudrapuravali@outlook.com" userId="59106c0e5b760d30" providerId="LiveId" clId="{045327AF-1B18-4CBD-B53C-12715DBC1A41}" dt="2026-09-22T15:35:57.360" v="110" actId="255"/>
          <ac:spMkLst>
            <pc:docMk/>
            <pc:sldMk cId="4187222866" sldId="265"/>
            <ac:spMk id="3" creationId="{1F2912DF-E5E1-29FD-B34B-80D8B49DA4EF}"/>
          </ac:spMkLst>
        </pc:spChg>
        <pc:spChg chg="add del mod">
          <ac:chgData name="rudrapuravali@outlook.com" userId="59106c0e5b760d30" providerId="LiveId" clId="{045327AF-1B18-4CBD-B53C-12715DBC1A41}" dt="2026-09-22T15:36:28.719" v="114" actId="21"/>
          <ac:spMkLst>
            <pc:docMk/>
            <pc:sldMk cId="4187222866" sldId="265"/>
            <ac:spMk id="5" creationId="{A0F7D24E-BD08-7C7D-D30B-86DF99F851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8F8A-56D4-F6B7-9901-8AE04CE99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CFEBE-A533-BA29-0407-1A807456E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CE8DB-CAF9-C12B-F61D-9538E3A70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2898C-F2DC-590A-9846-BD8279C3D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14070-81F4-0BE7-6488-7D9FEF93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1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9E68F-7D99-B9A0-22F0-321368DD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EA72F-F230-F4A3-B991-FC9255D80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DCF64-6AFA-89B6-1799-2C4F45A5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74E4B-AD4D-5498-38D2-44E4BF4E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767C-EE71-3A87-5665-BA20E1F2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41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44DC-24A5-DC43-9108-957F622CA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BE494-97A0-7D42-FF33-B7E64406F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0CDF9-514F-D3DB-EC5F-C8E192C37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1E20A-3C76-4FC7-21BA-84303257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82445-4391-400C-DA9C-F00EBB6B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3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446C-12E7-7413-0916-BFF5929B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31F2D-4E84-1CAD-9CC3-5517A1FCD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E4416-F92A-CE47-81D1-F1EC677A0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E37C4-02A3-6FCF-442B-1F4B681C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31D83-43D7-74AE-3835-3160EFDA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716EA-09A9-78EB-A9BC-66B2CACC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46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A4234-F2CF-000E-7833-0B2408D66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4E931-5952-5670-8FD2-808F879B7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579C8-D5C0-B0C7-E00C-0F3A9F22F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9E9DA-E4B4-A2C2-E044-7BBF17BC4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FB2FD-B5F6-7C95-8020-C5E437354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FBE06-E9A4-EA0D-903D-8D523151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C1CC1-3E9F-1641-CC27-6AC4B53C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50CCF-DA27-6244-30D0-D22F7ABD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60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4D42-E3A4-1616-F9F6-9D7E9682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42303-2320-1230-8E60-7863607E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E6A93-3930-52CD-D683-D84526AF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9597E-FF92-0DAB-E958-8BD4D114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91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74E9C-007D-15D7-38FC-174EEA40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550F0-1C1B-2143-7CF8-8BD146A4C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0B96B-25D9-B923-201A-6B3BC699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5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7B03-78A7-6748-2372-7CBB12F8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DFC71-96CF-E26A-8E0A-D412217AB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F46B1-233E-458D-F75E-627BAABCE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EF5FF-F17A-7473-C327-9D74D406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BC36C-C3FC-5383-7A67-78E1E4E6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04723-C93F-72F4-1CCF-E95B5809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38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FCDB7-FD7A-7508-F96A-527C0756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39C720-760B-0175-D048-1BC4D1209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F7904-EC59-5AFD-1C3B-EC8084938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7F5A7-2D17-89DB-5327-D8B768B03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861A0-AD24-A5CB-15AF-1E83C1BB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6C346-00BE-2732-3AEB-0F40AEF9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819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7638-C452-09F5-F1FD-025689593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1ED71-C0FF-0F8D-7F68-94ED954D1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EC812-8AAC-5453-BF94-B059BFFEB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520CE-9A67-4996-782E-1EA62AF2A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B36CF-8CDD-B54F-3499-3594E991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35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2F711D-AA65-8739-EDB2-418CAB45E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0D474-AB26-A18E-2014-540677740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DBC87-B6E4-C9C3-315A-6E053B14E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044A2-57E0-C8D3-80FC-D487F4E4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9E2F9-C991-DB37-18B1-2038DCF5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05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E720A8-16CB-5578-8739-639F1444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1A082-4BA5-F8CB-0FC0-B5BD75ED2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2D30-4FF2-BD06-4E29-A40BCC4154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04518-BE36-488B-9041-D971D63F432F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C9A91-F85A-5442-9C8A-101E80496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6DE70-3C99-5357-7FFA-644160C02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2DF9F-F81C-4999-B5A9-C4B9BCA36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101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6764-1C9A-D71F-0B64-8CD20D11D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194" y="903914"/>
            <a:ext cx="9144000" cy="2387600"/>
          </a:xfrm>
        </p:spPr>
        <p:txBody>
          <a:bodyPr/>
          <a:lstStyle/>
          <a:p>
            <a:r>
              <a:rPr lang="en-IN" dirty="0"/>
              <a:t> Istanbul Shopping Mall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3EEF6-9376-B6EF-E6D3-7BF3C0C91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3053" y="4298324"/>
            <a:ext cx="9144000" cy="1655762"/>
          </a:xfrm>
        </p:spPr>
        <p:txBody>
          <a:bodyPr>
            <a:normAutofit/>
          </a:bodyPr>
          <a:lstStyle/>
          <a:p>
            <a:r>
              <a:rPr lang="en-IN" sz="2000" dirty="0"/>
              <a:t>By Ravali </a:t>
            </a:r>
          </a:p>
          <a:p>
            <a:r>
              <a:rPr lang="en-IN" sz="2000" dirty="0"/>
              <a:t>99,457 Transactions </a:t>
            </a:r>
          </a:p>
          <a:p>
            <a:r>
              <a:rPr lang="en-IN" sz="2000" dirty="0"/>
              <a:t> Excel + Power BI</a:t>
            </a:r>
          </a:p>
        </p:txBody>
      </p:sp>
    </p:spTree>
    <p:extLst>
      <p:ext uri="{BB962C8B-B14F-4D97-AF65-F5344CB8AC3E}">
        <p14:creationId xmlns:p14="http://schemas.microsoft.com/office/powerpoint/2010/main" val="3229531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26F2FB-6BFF-D620-066E-A88B43651341}"/>
              </a:ext>
            </a:extLst>
          </p:cNvPr>
          <p:cNvSpPr txBox="1"/>
          <p:nvPr/>
        </p:nvSpPr>
        <p:spPr>
          <a:xfrm>
            <a:off x="274320" y="223520"/>
            <a:ext cx="7670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Dataset Name: Istanbul Shopping Mall Dataset</a:t>
            </a:r>
          </a:p>
          <a:p>
            <a:r>
              <a:rPr lang="en-IN" dirty="0"/>
              <a:t>Source: Kaggle / Istanbul Mall Transaction Data 2022-2023</a:t>
            </a:r>
          </a:p>
          <a:p>
            <a:r>
              <a:rPr lang="en-US" dirty="0"/>
              <a:t>Total Size: 99,457 Rows × 10 Columns</a:t>
            </a:r>
          </a:p>
          <a:p>
            <a:r>
              <a:rPr lang="en-IN" dirty="0"/>
              <a:t>Columns (10):</a:t>
            </a:r>
          </a:p>
          <a:p>
            <a:r>
              <a:rPr lang="en-IN" b="1" dirty="0"/>
              <a:t>Invoice _ no: </a:t>
            </a:r>
            <a:r>
              <a:rPr lang="en-IN" dirty="0"/>
              <a:t>A combination of the letter 'I' and a 6-digit integer </a:t>
            </a:r>
          </a:p>
          <a:p>
            <a:r>
              <a:rPr lang="en-IN" dirty="0"/>
              <a:t>uniquely assigned to each operation.</a:t>
            </a:r>
          </a:p>
          <a:p>
            <a:r>
              <a:rPr lang="en-IN" b="1" dirty="0"/>
              <a:t>Customer _ id: </a:t>
            </a:r>
            <a:r>
              <a:rPr lang="en-IN" dirty="0"/>
              <a:t>A combination of the letter 'C' and a 6-digit integer </a:t>
            </a:r>
          </a:p>
          <a:p>
            <a:r>
              <a:rPr lang="en-IN" dirty="0"/>
              <a:t>uniquely assigned to each operation.</a:t>
            </a:r>
          </a:p>
          <a:p>
            <a:r>
              <a:rPr lang="en-IN" b="1" dirty="0"/>
              <a:t>gender: </a:t>
            </a:r>
            <a:r>
              <a:rPr lang="en-IN" dirty="0"/>
              <a:t>String variable of the customer's gender</a:t>
            </a:r>
          </a:p>
          <a:p>
            <a:r>
              <a:rPr lang="en-IN" b="1" dirty="0"/>
              <a:t>age</a:t>
            </a:r>
            <a:r>
              <a:rPr lang="en-IN" dirty="0"/>
              <a:t>: Positive Integer variable of the customers age.</a:t>
            </a:r>
          </a:p>
          <a:p>
            <a:r>
              <a:rPr lang="en-IN" b="1" dirty="0"/>
              <a:t>category: </a:t>
            </a:r>
            <a:r>
              <a:rPr lang="en-IN" dirty="0"/>
              <a:t>String variable of the category of the purchased product.</a:t>
            </a:r>
          </a:p>
          <a:p>
            <a:r>
              <a:rPr lang="en-IN" b="1" dirty="0"/>
              <a:t>quantity: </a:t>
            </a:r>
            <a:r>
              <a:rPr lang="en-IN" dirty="0"/>
              <a:t>The quantities of each product (item) per transaction.</a:t>
            </a:r>
          </a:p>
          <a:p>
            <a:r>
              <a:rPr lang="en-IN" b="1" dirty="0"/>
              <a:t>price:</a:t>
            </a:r>
            <a:r>
              <a:rPr lang="en-IN" dirty="0"/>
              <a:t> Product price per unit in Turkish Liras (TL).</a:t>
            </a:r>
          </a:p>
          <a:p>
            <a:r>
              <a:rPr lang="en-IN" b="1" dirty="0"/>
              <a:t>Payment _ method: </a:t>
            </a:r>
            <a:r>
              <a:rPr lang="en-IN" dirty="0"/>
              <a:t>String variable of the payment method (cash, credit card or debit card) used for the transaction.</a:t>
            </a:r>
          </a:p>
          <a:p>
            <a:r>
              <a:rPr lang="en-IN" b="1" dirty="0"/>
              <a:t>Invoice _ date: </a:t>
            </a:r>
            <a:r>
              <a:rPr lang="en-IN" dirty="0"/>
              <a:t>The day when a transaction was generated.</a:t>
            </a:r>
          </a:p>
          <a:p>
            <a:r>
              <a:rPr lang="en-IN" b="1" dirty="0"/>
              <a:t>Shopping _ mall: </a:t>
            </a:r>
            <a:r>
              <a:rPr lang="en-IN" dirty="0"/>
              <a:t>String variable of the name of the shopping mall where the transaction was made.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FFF5E-1657-3526-4686-A178B5B36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182" y="463270"/>
            <a:ext cx="5185442" cy="256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62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842C7E-D52C-3EFB-C9D1-12DB14FB50DA}"/>
              </a:ext>
            </a:extLst>
          </p:cNvPr>
          <p:cNvSpPr txBox="1"/>
          <p:nvPr/>
        </p:nvSpPr>
        <p:spPr>
          <a:xfrm>
            <a:off x="436788" y="256206"/>
            <a:ext cx="11755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Title:  Gender Distribution — Who Shops More?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7C813-EF98-7CF5-1701-B6E9175B1A10}"/>
              </a:ext>
            </a:extLst>
          </p:cNvPr>
          <p:cNvSpPr txBox="1"/>
          <p:nvPr/>
        </p:nvSpPr>
        <p:spPr>
          <a:xfrm>
            <a:off x="436787" y="909935"/>
            <a:ext cx="88868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Total: 99,457 customers </a:t>
            </a:r>
          </a:p>
          <a:p>
            <a:r>
              <a:rPr lang="en-IN" dirty="0"/>
              <a:t>Female: 56.96% (56,650 customers)Male: 43.04% (42,807customers)</a:t>
            </a:r>
          </a:p>
          <a:p>
            <a:r>
              <a:rPr lang="en-IN" dirty="0"/>
              <a:t>Difference: Female +13,843 more than Male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2EF2A-46D5-83E1-94C3-CE0DF8310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357" y="2400300"/>
            <a:ext cx="9568543" cy="398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26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050C0-F569-2B0E-CAD6-70FE716B5EC9}"/>
              </a:ext>
            </a:extLst>
          </p:cNvPr>
          <p:cNvSpPr txBox="1"/>
          <p:nvPr/>
        </p:nvSpPr>
        <p:spPr>
          <a:xfrm>
            <a:off x="567418" y="305191"/>
            <a:ext cx="8576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SLIDE 4: Category Analysis — Revenue vs Volume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E61EE-4954-C32A-D301-40A7F1AEE38A}"/>
              </a:ext>
            </a:extLst>
          </p:cNvPr>
          <p:cNvSpPr txBox="1"/>
          <p:nvPr/>
        </p:nvSpPr>
        <p:spPr>
          <a:xfrm>
            <a:off x="567418" y="828411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Left Chart (By Count):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9532B-69F4-953D-462F-3D1317AB62D5}"/>
              </a:ext>
            </a:extLst>
          </p:cNvPr>
          <p:cNvSpPr txBox="1"/>
          <p:nvPr/>
        </p:nvSpPr>
        <p:spPr>
          <a:xfrm>
            <a:off x="491898" y="1351631"/>
            <a:ext cx="6098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Clothing: 1200 units — #1 in Quantity</a:t>
            </a:r>
          </a:p>
          <a:p>
            <a:r>
              <a:rPr lang="en-IN" dirty="0"/>
              <a:t>Shoes: 950, Technology: 700</a:t>
            </a:r>
          </a:p>
          <a:p>
            <a:r>
              <a:rPr lang="en-IN" dirty="0"/>
              <a:t>Souvenir: 100 — Lowest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0E8499-1625-6AA7-D7EC-A891B064873C}"/>
              </a:ext>
            </a:extLst>
          </p:cNvPr>
          <p:cNvSpPr txBox="1"/>
          <p:nvPr/>
        </p:nvSpPr>
        <p:spPr>
          <a:xfrm>
            <a:off x="567418" y="2336516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Right Chart (By Revenue):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69740-2692-ECFD-88B4-07E15B9F8EEE}"/>
              </a:ext>
            </a:extLst>
          </p:cNvPr>
          <p:cNvSpPr txBox="1"/>
          <p:nvPr/>
        </p:nvSpPr>
        <p:spPr>
          <a:xfrm>
            <a:off x="567418" y="2859736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Technology: $75M — #1 in Revenue (High price!</a:t>
            </a:r>
          </a:p>
          <a:p>
            <a:r>
              <a:rPr lang="en-IN" dirty="0"/>
              <a:t>)Clothing: $60M — #2</a:t>
            </a:r>
          </a:p>
          <a:p>
            <a:r>
              <a:rPr lang="en-IN" dirty="0"/>
              <a:t>Shoes: $40M</a:t>
            </a:r>
          </a:p>
          <a:p>
            <a:r>
              <a:rPr lang="en-IN" dirty="0"/>
              <a:t>Books $5M, Souvenir $3M — Very Low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95DA8-25C3-980B-028F-1684B5D1B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861" y="1417739"/>
            <a:ext cx="6098721" cy="397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0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2C4A1B-BE70-8EAA-EDAB-5597DED2252C}"/>
              </a:ext>
            </a:extLst>
          </p:cNvPr>
          <p:cNvSpPr txBox="1"/>
          <p:nvPr/>
        </p:nvSpPr>
        <p:spPr>
          <a:xfrm>
            <a:off x="322490" y="256206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Title:  Payment Method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EDACC-1B3C-8C3E-DDA8-241AE4E2FCA3}"/>
              </a:ext>
            </a:extLst>
          </p:cNvPr>
          <p:cNvSpPr txBox="1"/>
          <p:nvPr/>
        </p:nvSpPr>
        <p:spPr>
          <a:xfrm>
            <a:off x="322490" y="779426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Chart Data: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57D6A-8A9F-1AFA-02F1-D97F98615BE4}"/>
              </a:ext>
            </a:extLst>
          </p:cNvPr>
          <p:cNvSpPr txBox="1"/>
          <p:nvPr/>
        </p:nvSpPr>
        <p:spPr>
          <a:xfrm>
            <a:off x="322490" y="1241091"/>
            <a:ext cx="6098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Cash: 45.17% — 44,921 transactions — #1</a:t>
            </a:r>
          </a:p>
          <a:p>
            <a:r>
              <a:rPr lang="en-IN" dirty="0"/>
              <a:t>Credit Card: 34.90% — 34,710</a:t>
            </a:r>
          </a:p>
          <a:p>
            <a:r>
              <a:rPr lang="en-IN" dirty="0"/>
              <a:t>Debit Card: 19.93% — 19,826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5C1090-92A6-CE15-CCEC-36B8128E9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13" y="2334985"/>
            <a:ext cx="10052957" cy="414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72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607899-2313-224E-083A-734928FAFD1D}"/>
              </a:ext>
            </a:extLst>
          </p:cNvPr>
          <p:cNvSpPr txBox="1"/>
          <p:nvPr/>
        </p:nvSpPr>
        <p:spPr>
          <a:xfrm>
            <a:off x="649060" y="468477"/>
            <a:ext cx="9115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Title: Executive Dashboard — Final 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6821E-0F46-3CD9-6E55-DD262971BC10}"/>
              </a:ext>
            </a:extLst>
          </p:cNvPr>
          <p:cNvSpPr txBox="1"/>
          <p:nvPr/>
        </p:nvSpPr>
        <p:spPr>
          <a:xfrm>
            <a:off x="649060" y="1053252"/>
            <a:ext cx="6098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Top KPIs: "Total Revenue $150M, Total Customers 99,457 “</a:t>
            </a:r>
          </a:p>
          <a:p>
            <a:r>
              <a:rPr lang="en-IN" dirty="0"/>
              <a:t>Gender: "Female 57% dominate</a:t>
            </a:r>
          </a:p>
          <a:p>
            <a:r>
              <a:rPr lang="en-US" dirty="0"/>
              <a:t>Category: "Clothing highest COUNT 32,120 but Technology highest REVENUE $48.2M </a:t>
            </a:r>
          </a:p>
          <a:p>
            <a:r>
              <a:rPr lang="en-US" dirty="0"/>
              <a:t>Payment: "Cash 45% is King </a:t>
            </a:r>
          </a:p>
          <a:p>
            <a:r>
              <a:rPr lang="en-US" dirty="0"/>
              <a:t>Age: "25-40 age group 42.1k — Young adults shop most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1DDD82-16FB-F8AF-1153-547C29973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72" y="3000076"/>
            <a:ext cx="9514114" cy="33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8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2788BF-A356-B815-D06F-EC43BF044FFE}"/>
              </a:ext>
            </a:extLst>
          </p:cNvPr>
          <p:cNvSpPr txBox="1"/>
          <p:nvPr/>
        </p:nvSpPr>
        <p:spPr>
          <a:xfrm>
            <a:off x="426945" y="272534"/>
            <a:ext cx="9308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SLIDE 7: Key Insights &amp; Strategic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667E5-E8F8-C7F9-2762-E2227912830D}"/>
              </a:ext>
            </a:extLst>
          </p:cNvPr>
          <p:cNvSpPr txBox="1"/>
          <p:nvPr/>
        </p:nvSpPr>
        <p:spPr>
          <a:xfrm>
            <a:off x="426945" y="1102223"/>
            <a:ext cx="56690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Female 57% dominate→ Recommendation: Expand women's collection &amp; apparel range</a:t>
            </a:r>
          </a:p>
          <a:p>
            <a:pPr marL="342900" indent="-342900">
              <a:buAutoNum type="arabicPeriod"/>
            </a:pPr>
            <a:r>
              <a:rPr lang="en-IN" dirty="0"/>
              <a:t>2. Technology $75M highest revenue→ Recommendation: Focus investment on premium tech products</a:t>
            </a:r>
          </a:p>
          <a:p>
            <a:pPr marL="342900" indent="-342900">
              <a:buAutoNum type="arabicPeriod"/>
            </a:pPr>
            <a:r>
              <a:rPr lang="en-IN" dirty="0"/>
              <a:t>3. Cash 45% King→ Recommendation: Launch cashless payment incentives &amp; digital wallet promos</a:t>
            </a:r>
          </a:p>
          <a:p>
            <a:pPr marL="342900" indent="-342900">
              <a:buAutoNum type="arabicPeriod"/>
            </a:pPr>
            <a:r>
              <a:rPr lang="en-IN" dirty="0"/>
              <a:t>4. Age 25-40 largest 42k customers→ Recommendation: Target young adults with digital ads &amp; social media</a:t>
            </a:r>
          </a:p>
          <a:p>
            <a:pPr marL="342900" indent="-342900">
              <a:buAutoNum type="arabicPeriod"/>
            </a:pPr>
            <a:r>
              <a:rPr lang="en-IN" dirty="0"/>
              <a:t>5. Clothing — High Volume: 1,200 Units→ Recommendation: Increase inventory &amp; cross-sell accessories</a:t>
            </a:r>
          </a:p>
          <a:p>
            <a:pPr marL="342900" indent="-342900">
              <a:buAutoNum type="arabicPeriod"/>
            </a:pPr>
            <a:r>
              <a:rPr lang="en-IN" dirty="0"/>
              <a:t>6. Average Spend: $1,508→ Recommendation: Introduce premium bundles &amp; loyalty rewards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16FB1E-EA35-86FA-15F9-F5B097783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08459"/>
            <a:ext cx="5562600" cy="305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7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2768FE-AE9A-3A52-424E-F2359982506A}"/>
              </a:ext>
            </a:extLst>
          </p:cNvPr>
          <p:cNvSpPr txBox="1"/>
          <p:nvPr/>
        </p:nvSpPr>
        <p:spPr>
          <a:xfrm>
            <a:off x="332815" y="218746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SLIDE 8: My 5 Suggestions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07E7BF-9C7E-CF60-10A6-D49065DDD485}"/>
              </a:ext>
            </a:extLst>
          </p:cNvPr>
          <p:cNvSpPr txBox="1"/>
          <p:nvPr/>
        </p:nvSpPr>
        <p:spPr>
          <a:xfrm>
            <a:off x="332815" y="877652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my analysis of 99,457 transactions, my 5 suggestions are:"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92B3DA-1794-8D4E-30C2-1214BB8C984F}"/>
              </a:ext>
            </a:extLst>
          </p:cNvPr>
          <p:cNvSpPr txBox="1"/>
          <p:nvPr/>
        </p:nvSpPr>
        <p:spPr>
          <a:xfrm>
            <a:off x="332815" y="1626657"/>
            <a:ext cx="5449420" cy="295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IN" dirty="0"/>
              <a:t>Women-Only Tech &amp; Fashion Festival Target 57% female → Expected +22% growth</a:t>
            </a:r>
          </a:p>
          <a:p>
            <a:pPr marL="342900" indent="-342900">
              <a:buAutoNum type="arabicParenR"/>
            </a:pPr>
            <a:r>
              <a:rPr lang="en-US" dirty="0"/>
              <a:t>2) Premium Technology Zone$75M revenue driver → Expected +35% tech revenue</a:t>
            </a:r>
          </a:p>
          <a:p>
            <a:r>
              <a:rPr lang="en-US" dirty="0"/>
              <a:t>3) Cashback 10% on Card Payments Shift from 45% Cash → Expected +28% card adoption</a:t>
            </a:r>
          </a:p>
          <a:p>
            <a:r>
              <a:rPr lang="en-US" dirty="0"/>
              <a:t>4) Young Adult Loyalty App (25-40 age)Target 42k customers → Expected +40% retention</a:t>
            </a:r>
          </a:p>
          <a:p>
            <a:r>
              <a:rPr lang="en-US" dirty="0"/>
              <a:t>5) Bundle Offer: Clothing + Accessories Increase avg spend $1508 to $2000 → Expected +33% growth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694A72-551B-FA94-A46A-E8F757904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945" y="1220090"/>
            <a:ext cx="6098240" cy="486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69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11F9DF-9BC2-93B7-7A15-75AE16FC905B}"/>
              </a:ext>
            </a:extLst>
          </p:cNvPr>
          <p:cNvSpPr txBox="1"/>
          <p:nvPr/>
        </p:nvSpPr>
        <p:spPr>
          <a:xfrm>
            <a:off x="561416" y="285981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SLIDE 9: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8AE0F-EF88-7649-6C8D-42120271E6E7}"/>
              </a:ext>
            </a:extLst>
          </p:cNvPr>
          <p:cNvSpPr txBox="1"/>
          <p:nvPr/>
        </p:nvSpPr>
        <p:spPr>
          <a:xfrm>
            <a:off x="359708" y="1120676"/>
            <a:ext cx="103094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Slide 1: Title (Make yourself: Your Name, Roll No)</a:t>
            </a:r>
          </a:p>
          <a:p>
            <a:r>
              <a:rPr lang="en-IN" dirty="0"/>
              <a:t>✅ Slide 2: Q7 Dataset Overview</a:t>
            </a:r>
          </a:p>
          <a:p>
            <a:r>
              <a:rPr lang="en-IN" dirty="0"/>
              <a:t>✅ Slide 3: Q8 Gender Donut (57% Female)</a:t>
            </a:r>
          </a:p>
          <a:p>
            <a:r>
              <a:rPr lang="en-IN" dirty="0"/>
              <a:t>✅ Slide 4: Q9 Category (Tech $75M)</a:t>
            </a:r>
          </a:p>
          <a:p>
            <a:r>
              <a:rPr lang="en-IN" dirty="0"/>
              <a:t>✅ Slide 5: Q10 Payment Pie (Cash 45%)</a:t>
            </a:r>
          </a:p>
          <a:p>
            <a:r>
              <a:rPr lang="en-IN" dirty="0"/>
              <a:t>✅ Slide 6: Q11 Dashboard MOST IMPORTANT</a:t>
            </a:r>
          </a:p>
          <a:p>
            <a:r>
              <a:rPr lang="en-IN" dirty="0"/>
              <a:t>✅ Slide 7: Key Insights</a:t>
            </a:r>
          </a:p>
          <a:p>
            <a:r>
              <a:rPr lang="en-IN" dirty="0"/>
              <a:t>✅ Slide 8: My 5 Suggestions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94AC5-E92F-C38B-6600-3262B6F8F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07" y="3353499"/>
            <a:ext cx="10309412" cy="363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2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AEA4C-55DA-1261-D3D6-5BE80CED5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6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696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 Istanbul Shopping Mall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rudrapuravali@outlook.com</dc:creator>
  <cp:lastModifiedBy>rudrapuravali@outlook.com</cp:lastModifiedBy>
  <cp:revision>1</cp:revision>
  <dcterms:created xsi:type="dcterms:W3CDTF">2026-09-22T14:49:12Z</dcterms:created>
  <dcterms:modified xsi:type="dcterms:W3CDTF">2026-09-22T16:37:14Z</dcterms:modified>
</cp:coreProperties>
</file>